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ce99d1163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ce99d1163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title"/>
          </p:nvPr>
        </p:nvSpPr>
        <p:spPr>
          <a:xfrm>
            <a:off x="4250150" y="257900"/>
            <a:ext cx="4488000" cy="57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1420"/>
              <a:t>How to </a:t>
            </a:r>
            <a:r>
              <a:rPr b="1" lang="en" sz="1420"/>
              <a:t>model</a:t>
            </a:r>
            <a:r>
              <a:rPr b="1" lang="en" sz="1420"/>
              <a:t> planetary fluids with the use of ML: </a:t>
            </a:r>
            <a:br>
              <a:rPr b="1" lang="en" sz="1420"/>
            </a:br>
            <a:r>
              <a:rPr b="1" lang="en" sz="1420"/>
              <a:t>Spherical Fourier Neural Operators</a:t>
            </a:r>
            <a:endParaRPr b="1" sz="1420"/>
          </a:p>
        </p:txBody>
      </p:sp>
      <p:sp>
        <p:nvSpPr>
          <p:cNvPr id="55" name="Google Shape;55;p13"/>
          <p:cNvSpPr txBox="1"/>
          <p:nvPr>
            <p:ph idx="1" type="body"/>
          </p:nvPr>
        </p:nvSpPr>
        <p:spPr>
          <a:xfrm>
            <a:off x="3926000" y="952500"/>
            <a:ext cx="5136300" cy="402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1200"/>
              <a:buChar char="●"/>
            </a:pPr>
            <a:r>
              <a:rPr lang="en" sz="1200">
                <a:solidFill>
                  <a:srgbClr val="1F2328"/>
                </a:solidFill>
                <a:highlight>
                  <a:srgbClr val="FFFFFF"/>
                </a:highlight>
              </a:rPr>
              <a:t>what is the problem</a:t>
            </a:r>
            <a:endParaRPr sz="1200">
              <a:solidFill>
                <a:srgbClr val="1F2328"/>
              </a:solidFill>
              <a:highlight>
                <a:srgbClr val="FFFFFF"/>
              </a:highlight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1200"/>
              <a:buAutoNum type="alphaLcPeriod"/>
            </a:pPr>
            <a:r>
              <a:rPr lang="en" sz="1200">
                <a:solidFill>
                  <a:srgbClr val="1F2328"/>
                </a:solidFill>
                <a:highlight>
                  <a:srgbClr val="FFFFFF"/>
                </a:highlight>
              </a:rPr>
              <a:t>What is SFNO and how does it work?</a:t>
            </a:r>
            <a:endParaRPr sz="1200">
              <a:solidFill>
                <a:srgbClr val="1F2328"/>
              </a:solidFill>
              <a:highlight>
                <a:srgbClr val="FFFFFF"/>
              </a:highlight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1200"/>
              <a:buAutoNum type="alphaLcPeriod"/>
            </a:pPr>
            <a:r>
              <a:rPr lang="en" sz="1200">
                <a:solidFill>
                  <a:srgbClr val="1F2328"/>
                </a:solidFill>
                <a:highlight>
                  <a:srgbClr val="FFFFFF"/>
                </a:highlight>
              </a:rPr>
              <a:t>How does mapping work from regular FNO to SFNO? </a:t>
            </a:r>
            <a:endParaRPr sz="1200">
              <a:solidFill>
                <a:srgbClr val="1F2328"/>
              </a:solidFill>
              <a:highlight>
                <a:srgbClr val="FFFFFF"/>
              </a:highlight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1200"/>
              <a:buAutoNum type="alphaLcPeriod"/>
            </a:pPr>
            <a:r>
              <a:rPr lang="en" sz="1200">
                <a:solidFill>
                  <a:srgbClr val="1F2328"/>
                </a:solidFill>
                <a:highlight>
                  <a:srgbClr val="FFFFFF"/>
                </a:highlight>
              </a:rPr>
              <a:t>How are temporal info stored at each grid point and across grid point? </a:t>
            </a:r>
            <a:endParaRPr sz="1200">
              <a:solidFill>
                <a:srgbClr val="1F2328"/>
              </a:solidFill>
              <a:highlight>
                <a:srgbClr val="FFFFFF"/>
              </a:highlight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1200"/>
              <a:buAutoNum type="alphaLcPeriod"/>
            </a:pPr>
            <a:r>
              <a:rPr lang="en" sz="1200">
                <a:solidFill>
                  <a:srgbClr val="1F2328"/>
                </a:solidFill>
                <a:highlight>
                  <a:srgbClr val="FFFFFF"/>
                </a:highlight>
              </a:rPr>
              <a:t>To what point would SFNO break and no longer hold for SWE? </a:t>
            </a:r>
            <a:endParaRPr sz="1200">
              <a:solidFill>
                <a:srgbClr val="1F2328"/>
              </a:solidFill>
              <a:highlight>
                <a:srgbClr val="FFFFFF"/>
              </a:highlight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1200"/>
              <a:buChar char="●"/>
            </a:pPr>
            <a:r>
              <a:rPr lang="en" sz="1200">
                <a:solidFill>
                  <a:srgbClr val="1F2328"/>
                </a:solidFill>
                <a:highlight>
                  <a:srgbClr val="FFFFFF"/>
                </a:highlight>
              </a:rPr>
              <a:t>what approach do you plan to take</a:t>
            </a:r>
            <a:endParaRPr sz="1200">
              <a:solidFill>
                <a:srgbClr val="1F2328"/>
              </a:solidFill>
              <a:highlight>
                <a:srgbClr val="FFFFFF"/>
              </a:highlight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1200"/>
              <a:buAutoNum type="alphaLcPeriod"/>
            </a:pPr>
            <a:r>
              <a:rPr lang="en" sz="1200">
                <a:solidFill>
                  <a:srgbClr val="1F2328"/>
                </a:solidFill>
                <a:highlight>
                  <a:srgbClr val="FFFFFF"/>
                </a:highlight>
              </a:rPr>
              <a:t>Use torch-harmonics code to implement a toy SFNO to solve Shallow Water Equation (representative of a majority of atmospheric and oceanic fluids - sea surface temperatures) </a:t>
            </a:r>
            <a:endParaRPr sz="1200">
              <a:solidFill>
                <a:srgbClr val="1F2328"/>
              </a:solidFill>
              <a:highlight>
                <a:srgbClr val="FFFFFF"/>
              </a:highlight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1200"/>
              <a:buChar char="●"/>
            </a:pPr>
            <a:r>
              <a:rPr lang="en" sz="1200">
                <a:solidFill>
                  <a:srgbClr val="1F2328"/>
                </a:solidFill>
                <a:highlight>
                  <a:srgbClr val="FFFFFF"/>
                </a:highlight>
              </a:rPr>
              <a:t>Evaluation</a:t>
            </a:r>
            <a:endParaRPr sz="1200">
              <a:solidFill>
                <a:srgbClr val="1F2328"/>
              </a:solidFill>
              <a:highlight>
                <a:srgbClr val="FFFFFF"/>
              </a:highlight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1200"/>
              <a:buAutoNum type="alphaLcPeriod"/>
            </a:pPr>
            <a:r>
              <a:rPr lang="en" sz="1200">
                <a:solidFill>
                  <a:srgbClr val="1F2328"/>
                </a:solidFill>
                <a:highlight>
                  <a:srgbClr val="FFFFFF"/>
                </a:highlight>
              </a:rPr>
              <a:t>Reproduce Results from Bonev et al. 2023 </a:t>
            </a:r>
            <a:endParaRPr sz="1200">
              <a:solidFill>
                <a:srgbClr val="1F2328"/>
              </a:solidFill>
              <a:highlight>
                <a:srgbClr val="FFFFFF"/>
              </a:highlight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1200"/>
              <a:buAutoNum type="alphaLcPeriod"/>
            </a:pPr>
            <a:r>
              <a:rPr lang="en" sz="1200">
                <a:solidFill>
                  <a:srgbClr val="1F2328"/>
                </a:solidFill>
                <a:highlight>
                  <a:srgbClr val="FFFFFF"/>
                </a:highlight>
              </a:rPr>
              <a:t>Check outcome with changes to hyperparameters </a:t>
            </a:r>
            <a:endParaRPr sz="1200">
              <a:solidFill>
                <a:srgbClr val="1F2328"/>
              </a:solidFill>
              <a:highlight>
                <a:srgbClr val="FFFFFF"/>
              </a:highlight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1200"/>
              <a:buChar char="●"/>
            </a:pPr>
            <a:r>
              <a:rPr lang="en" sz="1200">
                <a:solidFill>
                  <a:srgbClr val="1F2328"/>
                </a:solidFill>
                <a:highlight>
                  <a:srgbClr val="FFFFFF"/>
                </a:highlight>
              </a:rPr>
              <a:t>reflection and stretch goals</a:t>
            </a:r>
            <a:endParaRPr sz="1200">
              <a:solidFill>
                <a:srgbClr val="1F2328"/>
              </a:solidFill>
              <a:highlight>
                <a:srgbClr val="FFFFFF"/>
              </a:highlight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1200"/>
              <a:buAutoNum type="alphaLcPeriod"/>
            </a:pPr>
            <a:r>
              <a:rPr lang="en" sz="1200">
                <a:solidFill>
                  <a:srgbClr val="1F2328"/>
                </a:solidFill>
                <a:highlight>
                  <a:srgbClr val="FFFFFF"/>
                </a:highlight>
              </a:rPr>
              <a:t>Stretch Goals - compare with DeepONets</a:t>
            </a:r>
            <a:endParaRPr/>
          </a:p>
        </p:txBody>
      </p:sp>
      <p:pic>
        <p:nvPicPr>
          <p:cNvPr id="56" name="Google Shape;56;p13"/>
          <p:cNvPicPr preferRelativeResize="0"/>
          <p:nvPr/>
        </p:nvPicPr>
        <p:blipFill rotWithShape="1">
          <a:blip r:embed="rId3">
            <a:alphaModFix/>
          </a:blip>
          <a:srcRect b="73810" l="0" r="0" t="0"/>
          <a:stretch/>
        </p:blipFill>
        <p:spPr>
          <a:xfrm>
            <a:off x="312100" y="761900"/>
            <a:ext cx="3685124" cy="949756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0801" y="1860075"/>
            <a:ext cx="3827724" cy="2143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